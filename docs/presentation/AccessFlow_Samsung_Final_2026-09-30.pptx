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27f09a3184a78" /><Relationship Type="http://schemas.openxmlformats.org/officeDocument/2006/relationships/extended-properties" Target="/docProps/app.xml" Id="R6b2b65f5dfd047ab" /><Relationship Type="http://schemas.openxmlformats.org/officeDocument/2006/relationships/officeDocument" Target="/ppt/presentation.xml" Id="Raf9a0d24f3ee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70c1b2ec0447e"/>
  </p:sldMasterIdLst>
  <p:notesMasterIdLst>
    <p:notesMasterId xmlns:r="http://schemas.openxmlformats.org/officeDocument/2006/relationships" r:id="Raa5ec4017adb43f0"/>
  </p:notesMasterIdLst>
  <p:sldIdLst>
    <p:sldId xmlns:r="http://schemas.openxmlformats.org/officeDocument/2006/relationships" id="256" r:id="R36ea40e9a4724d93"/>
    <p:sldId xmlns:r="http://schemas.openxmlformats.org/officeDocument/2006/relationships" id="257" r:id="Re8d2f679be31472e"/>
    <p:sldId xmlns:r="http://schemas.openxmlformats.org/officeDocument/2006/relationships" id="258" r:id="R032e9eab76f64ea7"/>
    <p:sldId xmlns:r="http://schemas.openxmlformats.org/officeDocument/2006/relationships" id="259" r:id="R4d9802aad8dd42a7"/>
    <p:sldId xmlns:r="http://schemas.openxmlformats.org/officeDocument/2006/relationships" id="260" r:id="R1c55e9b570564a29"/>
    <p:sldId xmlns:r="http://schemas.openxmlformats.org/officeDocument/2006/relationships" id="261" r:id="Rb575afc4df634343"/>
    <p:sldId xmlns:r="http://schemas.openxmlformats.org/officeDocument/2006/relationships" id="262" r:id="R4c05368fc8a04d0e"/>
    <p:sldId xmlns:r="http://schemas.openxmlformats.org/officeDocument/2006/relationships" id="263" r:id="R0cc3c9ad603147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bb3ef2001a403f" /><Relationship Type="http://schemas.openxmlformats.org/officeDocument/2006/relationships/slideMaster" Target="/ppt/slideMasters/slideMaster1.xml" Id="Rf8270c1b2ec0447e" /><Relationship Type="http://schemas.openxmlformats.org/officeDocument/2006/relationships/notesMaster" Target="/ppt/notesMasters/notesMaster1.xml" Id="Raa5ec4017adb43f0" /><Relationship Type="http://schemas.openxmlformats.org/officeDocument/2006/relationships/presProps" Target="/ppt/presProps.xml" Id="Rb7ed7681c8644507" /><Relationship Type="http://schemas.openxmlformats.org/officeDocument/2006/relationships/tableStyles" Target="/ppt/tableStyles.xml" Id="Rdd6345176fc04268" /><Relationship Type="http://schemas.openxmlformats.org/officeDocument/2006/relationships/slide" Target="/ppt/slides/slide1.xml" Id="R36ea40e9a4724d93" /><Relationship Type="http://schemas.openxmlformats.org/officeDocument/2006/relationships/slide" Target="/ppt/slides/slide2.xml" Id="Re8d2f679be31472e" /><Relationship Type="http://schemas.openxmlformats.org/officeDocument/2006/relationships/slide" Target="/ppt/slides/slide3.xml" Id="R032e9eab76f64ea7" /><Relationship Type="http://schemas.openxmlformats.org/officeDocument/2006/relationships/slide" Target="/ppt/slides/slide4.xml" Id="R4d9802aad8dd42a7" /><Relationship Type="http://schemas.openxmlformats.org/officeDocument/2006/relationships/slide" Target="/ppt/slides/slide5.xml" Id="R1c55e9b570564a29" /><Relationship Type="http://schemas.openxmlformats.org/officeDocument/2006/relationships/slide" Target="/ppt/slides/slide6.xml" Id="Rb575afc4df634343" /><Relationship Type="http://schemas.openxmlformats.org/officeDocument/2006/relationships/slide" Target="/ppt/slides/slide7.xml" Id="R4c05368fc8a04d0e" /><Relationship Type="http://schemas.openxmlformats.org/officeDocument/2006/relationships/slide" Target="/ppt/slides/slide8.xml" Id="R0cc3c9ad603147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bc3510aed74b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47254042f54ad9" /><Relationship Type="http://schemas.openxmlformats.org/officeDocument/2006/relationships/notesMaster" Target="/ppt/notesMasters/notesMaster1.xml" Id="R33c87d0499314b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1fb683c02543d8" /><Relationship Type="http://schemas.openxmlformats.org/officeDocument/2006/relationships/notesMaster" Target="/ppt/notesMasters/notesMaster1.xml" Id="R5dc7a4d2f8e4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0373f484ee4ce9" /><Relationship Type="http://schemas.openxmlformats.org/officeDocument/2006/relationships/notesMaster" Target="/ppt/notesMasters/notesMaster1.xml" Id="R9a52afd0185d48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da93de245b43c4" /><Relationship Type="http://schemas.openxmlformats.org/officeDocument/2006/relationships/notesMaster" Target="/ppt/notesMasters/notesMaster1.xml" Id="Ref4cb963b5cc41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a7517601cf436b" /><Relationship Type="http://schemas.openxmlformats.org/officeDocument/2006/relationships/notesMaster" Target="/ppt/notesMasters/notesMaster1.xml" Id="Rd0db4359b6014d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e02390a22b44ed" /><Relationship Type="http://schemas.openxmlformats.org/officeDocument/2006/relationships/notesMaster" Target="/ppt/notesMasters/notesMaster1.xml" Id="Ra8feaebefa1a48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3ce214133b460f" /><Relationship Type="http://schemas.openxmlformats.org/officeDocument/2006/relationships/notesMaster" Target="/ppt/notesMasters/notesMaster1.xml" Id="R0d9d78ba480744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76f8d387324bc5" /><Relationship Type="http://schemas.openxmlformats.org/officeDocument/2006/relationships/notesMaster" Target="/ppt/notesMasters/notesMaster1.xml" Id="R28b4c2827cca43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AccessFlow submission using Samsung mandatory template, condensed to eight slides per the updated Theme05 guide. Source: participant-kit/CollegeName_TeamName_Submission.pptx.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Illustrative booking correction. The integrated controller and voice adapter support interruption handling. Accessibility benefits are intended, without clinical validation. Source: src/accessflow/engine.py.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Conceptual engineering comparison, without a commercial-product benchmark or measured improvement over timing baselines. Source: docs/IMPLEMENTATION_PLAN.md.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Editable architecture diagram of the integrated system. The controller owns authoritative state. Execution validates schema, authorization and current dependencies. Sources: engine.py and perception/fdb_v3/.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Implemented extension with speech-driven dashboard recording. Four physical microphone checks have human-observed passes, with browser and room corroboration. Per-command quantitative timing is unavailable. Dialogue illustrates the workflow. Navigation changes simulated destinations and does not control a vehicle. Sources: docs/feedback/NAVIGATION_EXTENSION_2026-09-30.md and reviews/ATISHAY_MIC_REVIEW_2026-09-30.md.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Runtime: Groq whisper-large-v3, LiveKit Inference openai/gpt-5.6-luna and deepgram/aura-2. Agent inference differs from the reference benchmark judge. Credentials remain external. Source: perception/fdb_v3/README.md.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Intended applications, without a clinical efficacy percentage or real service/vehicle integration. Source: docs/IMPLEMENTATION_PLAN.md.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Verified full software suite: 1,614 passed, 8 skipped, two existing dependency warnings. Focused result-binding checks:112 passed. Four microphone checks are manually observed passes without quantified latency. These are not official benchmark scores. The benchmark includes100recordings. Full real-time evaluation has been active, but final saved-result coverage and judged aggregate score are unverified at publication. Samsung weights benchmark60percent,extension20percent,documentation/video20percent and re-runs one pinned judge. Sources: docs/STATUS.md, reviews/ATISHAY_MIC_REVIEW_2026-09-30.md and updated Theme05 guide.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2b0920a5349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585befa174a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1257b97d64c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3859f71014d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5d8442d4646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8b16b9cc64e8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0b7a63b034ca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3edbbf6a545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e46a30c724e7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86e6e0fbc450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79b9a7c60485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4b6657ec84a57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5">
            <a:extLst xmlns:a="http://schemas.openxmlformats.org/drawingml/2006/main">
              <a:ext uri="{FF2B5EF4-FFF2-40B4-BE49-F238E27FC236}">
                <a16:creationId xmlns:a16="http://schemas.microsoft.com/office/drawing/2014/main" id="{3E9FC3E3-74F7-441A-BFE1-3D41C68481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15">
            <a:extLst xmlns:a="http://schemas.openxmlformats.org/drawingml/2006/main">
              <a:ext uri="{FF2B5EF4-FFF2-40B4-BE49-F238E27FC236}">
                <a16:creationId xmlns:a16="http://schemas.microsoft.com/office/drawing/2014/main" id="{B0F36C81-F08E-4936-9291-A82449277C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" name="Google Shape;19;p15">
            <a:extLst xmlns:a="http://schemas.openxmlformats.org/drawingml/2006/main">
              <a:ext uri="{FF2B5EF4-FFF2-40B4-BE49-F238E27FC236}">
                <a16:creationId xmlns:a16="http://schemas.microsoft.com/office/drawing/2014/main" id="{3ADCF19F-4620-4B1A-9FAB-72765F6F4A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15">
            <a:extLst xmlns:a="http://schemas.openxmlformats.org/drawingml/2006/main">
              <a:ext uri="{FF2B5EF4-FFF2-40B4-BE49-F238E27FC236}">
                <a16:creationId xmlns:a16="http://schemas.microsoft.com/office/drawing/2014/main" id="{17F2C5B2-4406-477D-A262-879D7777D6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5">
            <a:extLst xmlns:a="http://schemas.openxmlformats.org/drawingml/2006/main">
              <a:ext uri="{FF2B5EF4-FFF2-40B4-BE49-F238E27FC236}">
                <a16:creationId xmlns:a16="http://schemas.microsoft.com/office/drawing/2014/main" id="{648958DD-7BDF-4A7A-848D-4A042E3A4F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6">
            <a:extLst xmlns:a="http://schemas.openxmlformats.org/drawingml/2006/main">
              <a:ext uri="{FF2B5EF4-FFF2-40B4-BE49-F238E27FC236}">
                <a16:creationId xmlns:a16="http://schemas.microsoft.com/office/drawing/2014/main" id="{FF65BEBE-E69E-4281-9512-9E2574E9B5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16">
            <a:extLst xmlns:a="http://schemas.openxmlformats.org/drawingml/2006/main">
              <a:ext uri="{FF2B5EF4-FFF2-40B4-BE49-F238E27FC236}">
                <a16:creationId xmlns:a16="http://schemas.microsoft.com/office/drawing/2014/main" id="{2C336171-DA13-48B1-938A-51FE92AD8B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25" name="Google Shape;25;p16">
            <a:extLst xmlns:a="http://schemas.openxmlformats.org/drawingml/2006/main">
              <a:ext uri="{FF2B5EF4-FFF2-40B4-BE49-F238E27FC236}">
                <a16:creationId xmlns:a16="http://schemas.microsoft.com/office/drawing/2014/main" id="{624AFE45-3B2F-4E12-976B-D448A7BC7A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16">
            <a:extLst xmlns:a="http://schemas.openxmlformats.org/drawingml/2006/main">
              <a:ext uri="{FF2B5EF4-FFF2-40B4-BE49-F238E27FC236}">
                <a16:creationId xmlns:a16="http://schemas.microsoft.com/office/drawing/2014/main" id="{9A00D3BD-2FE4-440B-97DA-6D722C1B52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16">
            <a:extLst xmlns:a="http://schemas.openxmlformats.org/drawingml/2006/main">
              <a:ext uri="{FF2B5EF4-FFF2-40B4-BE49-F238E27FC236}">
                <a16:creationId xmlns:a16="http://schemas.microsoft.com/office/drawing/2014/main" id="{0D7842AC-7F4D-4854-9412-1848C541DB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7">
            <a:extLst xmlns:a="http://schemas.openxmlformats.org/drawingml/2006/main">
              <a:ext uri="{FF2B5EF4-FFF2-40B4-BE49-F238E27FC236}">
                <a16:creationId xmlns:a16="http://schemas.microsoft.com/office/drawing/2014/main" id="{28F3C49F-45C6-44A6-9853-A18228F0E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17">
            <a:extLst xmlns:a="http://schemas.openxmlformats.org/drawingml/2006/main">
              <a:ext uri="{FF2B5EF4-FFF2-40B4-BE49-F238E27FC236}">
                <a16:creationId xmlns:a16="http://schemas.microsoft.com/office/drawing/2014/main" id="{7D90115C-5367-49A0-B432-5B623AC849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" name="Google Shape;31;p17">
            <a:extLst xmlns:a="http://schemas.openxmlformats.org/drawingml/2006/main">
              <a:ext uri="{FF2B5EF4-FFF2-40B4-BE49-F238E27FC236}">
                <a16:creationId xmlns:a16="http://schemas.microsoft.com/office/drawing/2014/main" id="{B39937BD-98A1-41B1-8842-71B0BAFBF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0E88A95E-E96B-4FE3-ABA8-CDBCC91B15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C083B24E-B59C-4E6A-8773-54B3E8BF04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8">
            <a:extLst xmlns:a="http://schemas.openxmlformats.org/drawingml/2006/main">
              <a:ext uri="{FF2B5EF4-FFF2-40B4-BE49-F238E27FC236}">
                <a16:creationId xmlns:a16="http://schemas.microsoft.com/office/drawing/2014/main" id="{B46E13AB-E24E-4A00-AF5B-94BADD085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18">
            <a:extLst xmlns:a="http://schemas.openxmlformats.org/drawingml/2006/main">
              <a:ext uri="{FF2B5EF4-FFF2-40B4-BE49-F238E27FC236}">
                <a16:creationId xmlns:a16="http://schemas.microsoft.com/office/drawing/2014/main" id="{A5586611-0173-44B2-97C7-670E39CDD6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7" name="Google Shape;37;p18">
            <a:extLst xmlns:a="http://schemas.openxmlformats.org/drawingml/2006/main">
              <a:ext uri="{FF2B5EF4-FFF2-40B4-BE49-F238E27FC236}">
                <a16:creationId xmlns:a16="http://schemas.microsoft.com/office/drawing/2014/main" id="{C0FC0F3A-75E5-4A67-93E8-487F622515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8" name="Google Shape;38;p18">
            <a:extLst xmlns:a="http://schemas.openxmlformats.org/drawingml/2006/main">
              <a:ext uri="{FF2B5EF4-FFF2-40B4-BE49-F238E27FC236}">
                <a16:creationId xmlns:a16="http://schemas.microsoft.com/office/drawing/2014/main" id="{71BC1267-5D7B-4C71-B9F9-5F0AC06D59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18">
            <a:extLst xmlns:a="http://schemas.openxmlformats.org/drawingml/2006/main">
              <a:ext uri="{FF2B5EF4-FFF2-40B4-BE49-F238E27FC236}">
                <a16:creationId xmlns:a16="http://schemas.microsoft.com/office/drawing/2014/main" id="{9BE26944-C085-4548-B292-868BE809A0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Google Shape;40;p18">
            <a:extLst xmlns:a="http://schemas.openxmlformats.org/drawingml/2006/main">
              <a:ext uri="{FF2B5EF4-FFF2-40B4-BE49-F238E27FC236}">
                <a16:creationId xmlns:a16="http://schemas.microsoft.com/office/drawing/2014/main" id="{B5DB5CE6-C5B9-43B7-867D-225A2B1738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9">
            <a:extLst xmlns:a="http://schemas.openxmlformats.org/drawingml/2006/main">
              <a:ext uri="{FF2B5EF4-FFF2-40B4-BE49-F238E27FC236}">
                <a16:creationId xmlns:a16="http://schemas.microsoft.com/office/drawing/2014/main" id="{9BCBDDB1-A7E9-4846-8C2D-764F742D6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19">
            <a:extLst xmlns:a="http://schemas.openxmlformats.org/drawingml/2006/main">
              <a:ext uri="{FF2B5EF4-FFF2-40B4-BE49-F238E27FC236}">
                <a16:creationId xmlns:a16="http://schemas.microsoft.com/office/drawing/2014/main" id="{00101070-3BB7-4102-81B8-A0D9140885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4" name="Google Shape;44;p19">
            <a:extLst xmlns:a="http://schemas.openxmlformats.org/drawingml/2006/main">
              <a:ext uri="{FF2B5EF4-FFF2-40B4-BE49-F238E27FC236}">
                <a16:creationId xmlns:a16="http://schemas.microsoft.com/office/drawing/2014/main" id="{DB60A73A-E82E-4E34-B642-9304AB9DDE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5" name="Google Shape;45;p19">
            <a:extLst xmlns:a="http://schemas.openxmlformats.org/drawingml/2006/main">
              <a:ext uri="{FF2B5EF4-FFF2-40B4-BE49-F238E27FC236}">
                <a16:creationId xmlns:a16="http://schemas.microsoft.com/office/drawing/2014/main" id="{32B2CF8B-8542-408D-B824-32C16FD7326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6" name="Google Shape;46;p19">
            <a:extLst xmlns:a="http://schemas.openxmlformats.org/drawingml/2006/main">
              <a:ext uri="{FF2B5EF4-FFF2-40B4-BE49-F238E27FC236}">
                <a16:creationId xmlns:a16="http://schemas.microsoft.com/office/drawing/2014/main" id="{E0D59AC1-EB21-4CA8-A513-EC91E1BB856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7" name="Google Shape;47;p19">
            <a:extLst xmlns:a="http://schemas.openxmlformats.org/drawingml/2006/main">
              <a:ext uri="{FF2B5EF4-FFF2-40B4-BE49-F238E27FC236}">
                <a16:creationId xmlns:a16="http://schemas.microsoft.com/office/drawing/2014/main" id="{518945C6-3D21-4780-87AD-F899B29447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19">
            <a:extLst xmlns:a="http://schemas.openxmlformats.org/drawingml/2006/main">
              <a:ext uri="{FF2B5EF4-FFF2-40B4-BE49-F238E27FC236}">
                <a16:creationId xmlns:a16="http://schemas.microsoft.com/office/drawing/2014/main" id="{DCBCB129-4114-45B3-A419-285D3707BA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19">
            <a:extLst xmlns:a="http://schemas.openxmlformats.org/drawingml/2006/main">
              <a:ext uri="{FF2B5EF4-FFF2-40B4-BE49-F238E27FC236}">
                <a16:creationId xmlns:a16="http://schemas.microsoft.com/office/drawing/2014/main" id="{103DC215-D5E0-4222-8350-15EDD49BF7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0">
            <a:extLst xmlns:a="http://schemas.openxmlformats.org/drawingml/2006/main">
              <a:ext uri="{FF2B5EF4-FFF2-40B4-BE49-F238E27FC236}">
                <a16:creationId xmlns:a16="http://schemas.microsoft.com/office/drawing/2014/main" id="{4438FDAA-4190-49C8-BE01-7115E52FF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20">
            <a:extLst xmlns:a="http://schemas.openxmlformats.org/drawingml/2006/main">
              <a:ext uri="{FF2B5EF4-FFF2-40B4-BE49-F238E27FC236}">
                <a16:creationId xmlns:a16="http://schemas.microsoft.com/office/drawing/2014/main" id="{B607F86E-AB85-4DEC-BEA7-234C611D51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20">
            <a:extLst xmlns:a="http://schemas.openxmlformats.org/drawingml/2006/main">
              <a:ext uri="{FF2B5EF4-FFF2-40B4-BE49-F238E27FC236}">
                <a16:creationId xmlns:a16="http://schemas.microsoft.com/office/drawing/2014/main" id="{1B3D3BC7-D419-412D-A476-E0C7A79868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4" name="Google Shape;54;p20">
            <a:extLst xmlns:a="http://schemas.openxmlformats.org/drawingml/2006/main">
              <a:ext uri="{FF2B5EF4-FFF2-40B4-BE49-F238E27FC236}">
                <a16:creationId xmlns:a16="http://schemas.microsoft.com/office/drawing/2014/main" id="{1A0959E4-5A4E-4C2D-8241-EDA3D7EAC6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21">
            <a:extLst xmlns:a="http://schemas.openxmlformats.org/drawingml/2006/main">
              <a:ext uri="{FF2B5EF4-FFF2-40B4-BE49-F238E27FC236}">
                <a16:creationId xmlns:a16="http://schemas.microsoft.com/office/drawing/2014/main" id="{89CE4402-C9F3-44C6-A02B-CDD45D540E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21">
            <a:extLst xmlns:a="http://schemas.openxmlformats.org/drawingml/2006/main">
              <a:ext uri="{FF2B5EF4-FFF2-40B4-BE49-F238E27FC236}">
                <a16:creationId xmlns:a16="http://schemas.microsoft.com/office/drawing/2014/main" id="{927FC306-1062-4C00-AFCB-4A0C2903AF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21">
            <a:extLst xmlns:a="http://schemas.openxmlformats.org/drawingml/2006/main">
              <a:ext uri="{FF2B5EF4-FFF2-40B4-BE49-F238E27FC236}">
                <a16:creationId xmlns:a16="http://schemas.microsoft.com/office/drawing/2014/main" id="{072DD883-9C4C-45C8-BAD8-C79971D329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22">
            <a:extLst xmlns:a="http://schemas.openxmlformats.org/drawingml/2006/main">
              <a:ext uri="{FF2B5EF4-FFF2-40B4-BE49-F238E27FC236}">
                <a16:creationId xmlns:a16="http://schemas.microsoft.com/office/drawing/2014/main" id="{514D57DC-0C88-4823-9180-49F7A8B9D4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1" name="Google Shape;61;p22">
            <a:extLst xmlns:a="http://schemas.openxmlformats.org/drawingml/2006/main">
              <a:ext uri="{FF2B5EF4-FFF2-40B4-BE49-F238E27FC236}">
                <a16:creationId xmlns:a16="http://schemas.microsoft.com/office/drawing/2014/main" id="{D1B954E2-6202-44E8-A88A-DF32E02DDB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2" name="Google Shape;62;p22">
            <a:extLst xmlns:a="http://schemas.openxmlformats.org/drawingml/2006/main">
              <a:ext uri="{FF2B5EF4-FFF2-40B4-BE49-F238E27FC236}">
                <a16:creationId xmlns:a16="http://schemas.microsoft.com/office/drawing/2014/main" id="{6D778552-58A6-4C28-AC9E-03A877EA8E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3" name="Google Shape;63;p22">
            <a:extLst xmlns:a="http://schemas.openxmlformats.org/drawingml/2006/main">
              <a:ext uri="{FF2B5EF4-FFF2-40B4-BE49-F238E27FC236}">
                <a16:creationId xmlns:a16="http://schemas.microsoft.com/office/drawing/2014/main" id="{2C0BF9F3-E161-4DD5-86B5-A8DEF7E85A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22">
            <a:extLst xmlns:a="http://schemas.openxmlformats.org/drawingml/2006/main">
              <a:ext uri="{FF2B5EF4-FFF2-40B4-BE49-F238E27FC236}">
                <a16:creationId xmlns:a16="http://schemas.microsoft.com/office/drawing/2014/main" id="{26D87701-8BC1-4A52-A20E-7F10557441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22">
            <a:extLst xmlns:a="http://schemas.openxmlformats.org/drawingml/2006/main">
              <a:ext uri="{FF2B5EF4-FFF2-40B4-BE49-F238E27FC236}">
                <a16:creationId xmlns:a16="http://schemas.microsoft.com/office/drawing/2014/main" id="{1AFA7DFE-7098-4AAE-8AA8-4AC44B38D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23">
            <a:extLst xmlns:a="http://schemas.openxmlformats.org/drawingml/2006/main">
              <a:ext uri="{FF2B5EF4-FFF2-40B4-BE49-F238E27FC236}">
                <a16:creationId xmlns:a16="http://schemas.microsoft.com/office/drawing/2014/main" id="{EF6D1D7A-9D5E-4E26-8F66-95C6754A5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23">
            <a:extLst xmlns:a="http://schemas.openxmlformats.org/drawingml/2006/main">
              <a:ext uri="{FF2B5EF4-FFF2-40B4-BE49-F238E27FC236}">
                <a16:creationId xmlns:a16="http://schemas.microsoft.com/office/drawing/2014/main" id="{DCF254EA-A7C5-48B5-9F46-366E3CC1422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9" name="Google Shape;69;p23">
            <a:extLst xmlns:a="http://schemas.openxmlformats.org/drawingml/2006/main">
              <a:ext uri="{FF2B5EF4-FFF2-40B4-BE49-F238E27FC236}">
                <a16:creationId xmlns:a16="http://schemas.microsoft.com/office/drawing/2014/main" id="{FD96C6F5-480C-45A2-AF30-0F992AD80C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70" name="Google Shape;70;p23">
            <a:extLst xmlns:a="http://schemas.openxmlformats.org/drawingml/2006/main">
              <a:ext uri="{FF2B5EF4-FFF2-40B4-BE49-F238E27FC236}">
                <a16:creationId xmlns:a16="http://schemas.microsoft.com/office/drawing/2014/main" id="{1D771833-CAB2-4861-AE4A-30165370A6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23">
            <a:extLst xmlns:a="http://schemas.openxmlformats.org/drawingml/2006/main">
              <a:ext uri="{FF2B5EF4-FFF2-40B4-BE49-F238E27FC236}">
                <a16:creationId xmlns:a16="http://schemas.microsoft.com/office/drawing/2014/main" id="{1326F3E9-94D7-416A-9456-E15BB31A1F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23">
            <a:extLst xmlns:a="http://schemas.openxmlformats.org/drawingml/2006/main">
              <a:ext uri="{FF2B5EF4-FFF2-40B4-BE49-F238E27FC236}">
                <a16:creationId xmlns:a16="http://schemas.microsoft.com/office/drawing/2014/main" id="{7E5921CE-25B6-43C1-A826-6016BAC135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24">
            <a:extLst xmlns:a="http://schemas.openxmlformats.org/drawingml/2006/main">
              <a:ext uri="{FF2B5EF4-FFF2-40B4-BE49-F238E27FC236}">
                <a16:creationId xmlns:a16="http://schemas.microsoft.com/office/drawing/2014/main" id="{0597609E-30D4-48DB-88BE-651F9D779D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5" name="Google Shape;75;p24">
            <a:extLst xmlns:a="http://schemas.openxmlformats.org/drawingml/2006/main">
              <a:ext uri="{FF2B5EF4-FFF2-40B4-BE49-F238E27FC236}">
                <a16:creationId xmlns:a16="http://schemas.microsoft.com/office/drawing/2014/main" id="{5344B797-57C4-4C02-824B-89D25C8F50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6" name="Google Shape;76;p24">
            <a:extLst xmlns:a="http://schemas.openxmlformats.org/drawingml/2006/main">
              <a:ext uri="{FF2B5EF4-FFF2-40B4-BE49-F238E27FC236}">
                <a16:creationId xmlns:a16="http://schemas.microsoft.com/office/drawing/2014/main" id="{D8B2D177-A6B0-4652-B4D7-B176898CBA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24">
            <a:extLst xmlns:a="http://schemas.openxmlformats.org/drawingml/2006/main">
              <a:ext uri="{FF2B5EF4-FFF2-40B4-BE49-F238E27FC236}">
                <a16:creationId xmlns:a16="http://schemas.microsoft.com/office/drawing/2014/main" id="{DE9DD605-D8D0-44B3-BC23-0481315E8A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24">
            <a:extLst xmlns:a="http://schemas.openxmlformats.org/drawingml/2006/main">
              <a:ext uri="{FF2B5EF4-FFF2-40B4-BE49-F238E27FC236}">
                <a16:creationId xmlns:a16="http://schemas.microsoft.com/office/drawing/2014/main" id="{81BFB2D3-2D18-44F0-89DE-EE4907B59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5">
            <a:extLst xmlns:a="http://schemas.openxmlformats.org/drawingml/2006/main">
              <a:ext uri="{FF2B5EF4-FFF2-40B4-BE49-F238E27FC236}">
                <a16:creationId xmlns:a16="http://schemas.microsoft.com/office/drawing/2014/main" id="{702B1B65-D9D4-4328-B733-54728ED48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1" name="Google Shape;81;p25">
            <a:extLst xmlns:a="http://schemas.openxmlformats.org/drawingml/2006/main">
              <a:ext uri="{FF2B5EF4-FFF2-40B4-BE49-F238E27FC236}">
                <a16:creationId xmlns:a16="http://schemas.microsoft.com/office/drawing/2014/main" id="{D16DE724-D216-4DE2-8C0F-C11A53D474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2" name="Google Shape;82;p25">
            <a:extLst xmlns:a="http://schemas.openxmlformats.org/drawingml/2006/main">
              <a:ext uri="{FF2B5EF4-FFF2-40B4-BE49-F238E27FC236}">
                <a16:creationId xmlns:a16="http://schemas.microsoft.com/office/drawing/2014/main" id="{1FC5F4C4-E0CF-434B-823D-C0B8F0C977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5">
            <a:extLst xmlns:a="http://schemas.openxmlformats.org/drawingml/2006/main">
              <a:ext uri="{FF2B5EF4-FFF2-40B4-BE49-F238E27FC236}">
                <a16:creationId xmlns:a16="http://schemas.microsoft.com/office/drawing/2014/main" id="{9E7F6966-EBCF-45D9-998C-51BCBF23D4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25">
            <a:extLst xmlns:a="http://schemas.openxmlformats.org/drawingml/2006/main">
              <a:ext uri="{FF2B5EF4-FFF2-40B4-BE49-F238E27FC236}">
                <a16:creationId xmlns:a16="http://schemas.microsoft.com/office/drawing/2014/main" id="{12FBC4CD-ACA6-4010-AE18-489EF6F9E1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c302cccd594cee" /><Relationship Type="http://schemas.openxmlformats.org/officeDocument/2006/relationships/slideLayout" Target="/ppt/slideLayouts/slideLayout1.xml" Id="R98bbab3aa9dc4247" /><Relationship Type="http://schemas.openxmlformats.org/officeDocument/2006/relationships/slideLayout" Target="/ppt/slideLayouts/slideLayout2.xml" Id="Ra2a5baa19bb641ad" /><Relationship Type="http://schemas.openxmlformats.org/officeDocument/2006/relationships/slideLayout" Target="/ppt/slideLayouts/slideLayout3.xml" Id="R24e1ec32a64e4065" /><Relationship Type="http://schemas.openxmlformats.org/officeDocument/2006/relationships/slideLayout" Target="/ppt/slideLayouts/slideLayout4.xml" Id="R99417dbcbc7a4c2d" /><Relationship Type="http://schemas.openxmlformats.org/officeDocument/2006/relationships/slideLayout" Target="/ppt/slideLayouts/slideLayout5.xml" Id="R327db7b52d41492a" /><Relationship Type="http://schemas.openxmlformats.org/officeDocument/2006/relationships/slideLayout" Target="/ppt/slideLayouts/slideLayout6.xml" Id="R0e860be151f846c9" /><Relationship Type="http://schemas.openxmlformats.org/officeDocument/2006/relationships/slideLayout" Target="/ppt/slideLayouts/slideLayout7.xml" Id="Reebceb01dbed404d" /><Relationship Type="http://schemas.openxmlformats.org/officeDocument/2006/relationships/slideLayout" Target="/ppt/slideLayouts/slideLayout8.xml" Id="R45d2650ce2044836" /><Relationship Type="http://schemas.openxmlformats.org/officeDocument/2006/relationships/slideLayout" Target="/ppt/slideLayouts/slideLayout9.xml" Id="Rd9d6d3edc85f4c22" /><Relationship Type="http://schemas.openxmlformats.org/officeDocument/2006/relationships/slideLayout" Target="/ppt/slideLayouts/slideLayout10.xml" Id="Ra9a93d45346a45dd" /><Relationship Type="http://schemas.openxmlformats.org/officeDocument/2006/relationships/slideLayout" Target="/ppt/slideLayouts/slideLayout11.xml" Id="Rbdd0a52dd1b44ded" /><Relationship Type="http://schemas.openxmlformats.org/officeDocument/2006/relationships/slideLayout" Target="/ppt/slideLayouts/slideLayout12.xml" Id="Rf01c10aaf4e745d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4157A2EB-DD79-4F65-97AD-9D8130092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1" name="Google Shape;11;p13">
            <a:extLst xmlns:a="http://schemas.openxmlformats.org/drawingml/2006/main">
              <a:ext uri="{FF2B5EF4-FFF2-40B4-BE49-F238E27FC236}">
                <a16:creationId xmlns:a16="http://schemas.microsoft.com/office/drawing/2014/main" id="{8BED1519-7EFD-42CA-A4E5-4E52FA22FE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3">
            <a:extLst xmlns:a="http://schemas.openxmlformats.org/drawingml/2006/main">
              <a:ext uri="{FF2B5EF4-FFF2-40B4-BE49-F238E27FC236}">
                <a16:creationId xmlns:a16="http://schemas.microsoft.com/office/drawing/2014/main" id="{19AD3905-328C-443E-8F3A-24E39D6EF7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3">
            <a:extLst xmlns:a="http://schemas.openxmlformats.org/drawingml/2006/main">
              <a:ext uri="{FF2B5EF4-FFF2-40B4-BE49-F238E27FC236}">
                <a16:creationId xmlns:a16="http://schemas.microsoft.com/office/drawing/2014/main" id="{2AFF1775-4094-46AB-9CF7-03EC1E7E9A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3">
            <a:extLst xmlns:a="http://schemas.openxmlformats.org/drawingml/2006/main">
              <a:ext uri="{FF2B5EF4-FFF2-40B4-BE49-F238E27FC236}">
                <a16:creationId xmlns:a16="http://schemas.microsoft.com/office/drawing/2014/main" id="{0E0352A0-3721-4A68-B1E7-2A72C394E4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bab3aa9dc4247"/>
    <p:sldLayoutId xmlns:r="http://schemas.openxmlformats.org/officeDocument/2006/relationships" id="2147483650" r:id="Ra2a5baa19bb641ad"/>
    <p:sldLayoutId xmlns:r="http://schemas.openxmlformats.org/officeDocument/2006/relationships" id="2147483651" r:id="R24e1ec32a64e4065"/>
    <p:sldLayoutId xmlns:r="http://schemas.openxmlformats.org/officeDocument/2006/relationships" id="2147483652" r:id="R99417dbcbc7a4c2d"/>
    <p:sldLayoutId xmlns:r="http://schemas.openxmlformats.org/officeDocument/2006/relationships" id="2147483653" r:id="R327db7b52d41492a"/>
    <p:sldLayoutId xmlns:r="http://schemas.openxmlformats.org/officeDocument/2006/relationships" id="2147483654" r:id="R0e860be151f846c9"/>
    <p:sldLayoutId xmlns:r="http://schemas.openxmlformats.org/officeDocument/2006/relationships" id="2147483655" r:id="Reebceb01dbed404d"/>
    <p:sldLayoutId xmlns:r="http://schemas.openxmlformats.org/officeDocument/2006/relationships" id="2147483656" r:id="R45d2650ce2044836"/>
    <p:sldLayoutId xmlns:r="http://schemas.openxmlformats.org/officeDocument/2006/relationships" id="2147483657" r:id="Rd9d6d3edc85f4c22"/>
    <p:sldLayoutId xmlns:r="http://schemas.openxmlformats.org/officeDocument/2006/relationships" id="2147483658" r:id="Ra9a93d45346a45dd"/>
    <p:sldLayoutId xmlns:r="http://schemas.openxmlformats.org/officeDocument/2006/relationships" id="2147483659" r:id="Rbdd0a52dd1b44ded"/>
    <p:sldLayoutId xmlns:r="http://schemas.openxmlformats.org/officeDocument/2006/relationships" id="2147483660" r:id="Rf01c10aaf4e745d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8eeb871134eec" /><Relationship Type="http://schemas.openxmlformats.org/officeDocument/2006/relationships/image" Target="/ppt/media/image.png" Id="Rd24f284b7e154925" /><Relationship Type="http://schemas.openxmlformats.org/officeDocument/2006/relationships/notesSlide" Target="/ppt/notesSlides/notesSlide1.xml" Id="Rc73c581d8f88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33ca8de7bb4fc7" /><Relationship Type="http://schemas.openxmlformats.org/officeDocument/2006/relationships/notesSlide" Target="/ppt/notesSlides/notesSlide2.xml" Id="R1bc6a0e621d54d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cdd6568aa141cd" /><Relationship Type="http://schemas.openxmlformats.org/officeDocument/2006/relationships/notesSlide" Target="/ppt/notesSlides/notesSlide3.xml" Id="Rb1adf9fad79e4a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6ee6b9ef734d4f" /><Relationship Type="http://schemas.openxmlformats.org/officeDocument/2006/relationships/notesSlide" Target="/ppt/notesSlides/notesSlide4.xml" Id="Redc4ac56792745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aad9e9ef22402d" /><Relationship Type="http://schemas.openxmlformats.org/officeDocument/2006/relationships/notesSlide" Target="/ppt/notesSlides/notesSlide5.xml" Id="R6092100d2c6247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840795dd445aa" /><Relationship Type="http://schemas.openxmlformats.org/officeDocument/2006/relationships/notesSlide" Target="/ppt/notesSlides/notesSlide6.xml" Id="Rb0492b5ebc0c47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4d4207fed34c22" /><Relationship Type="http://schemas.openxmlformats.org/officeDocument/2006/relationships/notesSlide" Target="/ppt/notesSlides/notesSlide7.xml" Id="R7e1c8205c1cd45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16ea371a354a9e" /><Relationship Type="http://schemas.openxmlformats.org/officeDocument/2006/relationships/notesSlide" Target="/ppt/notesSlides/notesSlide8.xml" Id="Re55e0be1429d4b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5271B895-CA06-4E3C-AEAB-16C9A6C7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9D3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1C63AB28-6E51-4E1C-B36E-0228500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SAMSUNG PRISM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7995A6DE-9910-4066-BC6D-63600D2A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07008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sz="50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Generative AI</a:t>
            </a:r>
            <a:endParaRPr sz="5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49D1B9C2-0417-498F-9E1E-A711D09F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sz="5000" b="1" i="0" u="non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Hackathon</a:t>
            </a:r>
            <a:endParaRPr sz="5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6A055460-8E27-456C-BB02-BEA53978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24912"/>
            <a:ext cx="6126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sz="25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3rd Edition</a:t>
            </a:r>
            <a:r>
              <a:rPr sz="20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  2026 – 27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F7CAE678-D5EF-429E-B8CC-043573C3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10128"/>
            <a:ext cx="6096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725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725" b="0" i="0" u="none" cap="none">
                <a:solidFill>
                  <a:srgbClr val="626282"/>
                </a:solidFill>
                <a:latin typeface="Arial"/>
                <a:ea typeface="Arial"/>
                <a:cs typeface="Arial"/>
              </a:rPr>
              <a:t>Theme ID: 5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725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725" b="0" i="0" u="none" cap="none">
                <a:solidFill>
                  <a:srgbClr val="626282"/>
                </a:solidFill>
                <a:latin typeface="Arial"/>
                <a:ea typeface="Arial"/>
                <a:cs typeface="Arial"/>
              </a:rPr>
              <a:t>Team: AccessFlow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725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725" b="0" i="0" u="none" cap="none">
                <a:solidFill>
                  <a:srgbClr val="626282"/>
                </a:solidFill>
                <a:latin typeface="Arial"/>
                <a:ea typeface="Arial"/>
                <a:cs typeface="Arial"/>
              </a:rPr>
              <a:t>College: Thapar Institute of Engineering &amp; Technology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725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725" b="0" i="0" u="none" cap="none">
                <a:solidFill>
                  <a:srgbClr val="626282"/>
                </a:solidFill>
                <a:latin typeface="Arial"/>
                <a:ea typeface="Arial"/>
                <a:cs typeface="Arial"/>
              </a:rPr>
              <a:t>Members: Mridul Negi and Atishay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  <a:defRPr sz="1725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725" b="0" i="0" u="none" cap="none">
                <a:solidFill>
                  <a:srgbClr val="626282"/>
                </a:solidFill>
                <a:latin typeface="Arial"/>
                <a:ea typeface="Arial"/>
                <a:cs typeface="Arial"/>
              </a:rPr>
              <a:t>GitHub: github.com/MridulNegi2005/AccessFlow</a:t>
            </a:r>
            <a:endParaRPr/>
          </a:p>
        </p:txBody>
      </p:sp>
      <p:pic>
        <p:nvPicPr>
          <p:cNvPr id="104" name="Google Shape;9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4f284b7e1549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59168" y="1051560"/>
            <a:ext cx="4572000" cy="457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7" name="draft-label">
            <a:extLst xmlns:a="http://schemas.openxmlformats.org/drawingml/2006/main">
              <a:ext uri="{FF2B5EF4-FFF2-40B4-BE49-F238E27FC236}">
                <a16:creationId xmlns:a16="http://schemas.microsoft.com/office/drawing/2014/main" id="{798353C1-6651-4450-830D-4EC39632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4DAB"/>
                </a:solidFill>
                <a:latin typeface="Arial"/>
                <a:ea typeface="Arial"/>
                <a:cs typeface="Arial"/>
              </a:rPr>
              <a:t>Theme 5 submission · 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00252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F3F53631-00E9-43C4-81D6-F30350115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Theme 5: interruptible voice agents</a:t>
            </a:r>
            <a:endParaRPr/>
          </a:p>
        </p:txBody>
      </p:sp>
      <p:sp>
        <p:nvSpPr>
          <p:cNvPr id="102" name="purpose">
            <a:extLst xmlns:a="http://schemas.openxmlformats.org/drawingml/2006/main">
              <a:ext uri="{FF2B5EF4-FFF2-40B4-BE49-F238E27FC236}">
                <a16:creationId xmlns:a16="http://schemas.microsoft.com/office/drawing/2014/main" id="{15DA7D2A-9EF6-458E-8B16-17CBC398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017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192F"/>
                </a:solidFill>
                <a:latin typeface="Arial"/>
                <a:ea typeface="Arial"/>
                <a:cs typeface="Arial"/>
              </a:rPr>
              <a:t>AccessFlow keeps unfinished speech from becoming an action.</a:t>
            </a:r>
          </a:p>
        </p:txBody>
      </p:sp>
      <p:sp>
        <p:nvSpPr>
          <p:cNvPr id="103" name="quote">
            <a:extLst xmlns:a="http://schemas.openxmlformats.org/drawingml/2006/main">
              <a:ext uri="{FF2B5EF4-FFF2-40B4-BE49-F238E27FC236}">
                <a16:creationId xmlns:a16="http://schemas.microsoft.com/office/drawing/2014/main" id="{C3FFC3D8-7B0A-49FC-B6EC-29FD7E0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1017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704DAB"/>
                </a:solidFill>
                <a:latin typeface="Arial"/>
                <a:ea typeface="Arial"/>
                <a:cs typeface="Arial"/>
              </a:rPr>
              <a:t>“Book it for Tues… actually Wednesday at five.”</a:t>
            </a:r>
          </a:p>
        </p:txBody>
      </p:sp>
      <p:sp>
        <p:nvSpPr>
          <p:cNvPr id="104" name="behavior">
            <a:extLst xmlns:a="http://schemas.openxmlformats.org/drawingml/2006/main">
              <a:ext uri="{FF2B5EF4-FFF2-40B4-BE49-F238E27FC236}">
                <a16:creationId xmlns:a16="http://schemas.microsoft.com/office/drawing/2014/main" id="{B7EEADB5-0748-4386-B69E-15274064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0363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The controller preserves the request, updates the corrected details,</a:t>
            </a:r>
          </a:p>
          <a:p xmlns:a="http://schemas.openxmlformats.org/drawingml/2006/main">
            <a:pPr>
              <a:defRPr sz="210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and blocks work that depends on an outdated decision.</a:t>
            </a:r>
          </a:p>
        </p:txBody>
      </p:sp>
      <p:sp>
        <p:nvSpPr>
          <p:cNvPr id="105" name="scope">
            <a:extLst xmlns:a="http://schemas.openxmlformats.org/drawingml/2006/main">
              <a:ext uri="{FF2B5EF4-FFF2-40B4-BE49-F238E27FC236}">
                <a16:creationId xmlns:a16="http://schemas.microsoft.com/office/drawing/2014/main" id="{35A2BF6B-F64D-43D7-9755-7C6EFEE5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282"/>
                </a:solidFill>
                <a:latin typeface="Arial"/>
                <a:ea typeface="Arial"/>
                <a:cs typeface="Arial"/>
              </a:rPr>
              <a:t>One generic execution core with a LiveKit voice adapter and mock tools.</a:t>
            </a:r>
          </a:p>
        </p:txBody>
      </p:sp>
    </p:spTree>
    <p:extLst>
      <p:ext uri="{BB962C8B-B14F-4D97-AF65-F5344CB8AC3E}">
        <p14:creationId xmlns:p14="http://schemas.microsoft.com/office/powerpoint/2010/main" val="299269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3">
            <a:extLst xmlns:a="http://schemas.openxmlformats.org/drawingml/2006/main">
              <a:ext uri="{FF2B5EF4-FFF2-40B4-BE49-F238E27FC236}">
                <a16:creationId xmlns:a16="http://schemas.microsoft.com/office/drawing/2014/main" id="{A3FA71A0-1081-47F9-B9D9-EE792A07B2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Existing approaches and execution gaps</a:t>
            </a:r>
            <a:endParaRPr/>
          </a:p>
        </p:txBody>
      </p:sp>
      <p:graphicFrame>
        <p:nvGraphicFramePr>
          <p:cNvPr id="111" name=""/>
          <p:cNvGraphicFramePr/>
          <p:nvPr/>
        </p:nvGraphicFramePr>
        <p:xfrm>
          <a:off xmlns:a="http://schemas.openxmlformats.org/drawingml/2006/main" x="914400" y="2076450"/>
          <a:ext xmlns:a="http://schemas.openxmlformats.org/drawingml/2006/main" cx="10363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2857500"/>
                <a:gridCol w="4972050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Useful capability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Gap addressed by AccessFlow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Speech transcription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Words and timestamps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A transcript alone cannot authorize an action.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General tool-calling LLM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Intent and tool proposals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A corrected request can invalidate earlier work.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Fixed silence 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Simple turn detection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One threshold cannot resolve every pause.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AccessFlow controller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State and execution guards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Accept a result only while its dependencies hold.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comparison-caveat">
            <a:extLst xmlns:a="http://schemas.openxmlformats.org/drawingml/2006/main">
              <a:ext uri="{FF2B5EF4-FFF2-40B4-BE49-F238E27FC236}">
                <a16:creationId xmlns:a16="http://schemas.microsoft.com/office/drawing/2014/main" id="{484783A6-3637-47E7-BCE2-9CDC7D9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282"/>
                </a:solidFill>
                <a:latin typeface="Arial"/>
                <a:ea typeface="Arial"/>
                <a:cs typeface="Arial"/>
              </a:rPr>
              <a:t>Engineering comparison, not a measured claim against named products.</a:t>
            </a:r>
          </a:p>
        </p:txBody>
      </p:sp>
    </p:spTree>
    <p:extLst>
      <p:ext uri="{BB962C8B-B14F-4D97-AF65-F5344CB8AC3E}">
        <p14:creationId xmlns:p14="http://schemas.microsoft.com/office/powerpoint/2010/main" val="1537312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621B020F-25F7-4411-91DE-043B42F2A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9917" y="266513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Our solution and architecture</a:t>
            </a:r>
            <a:endParaRPr/>
          </a:p>
        </p:txBody>
      </p:sp>
      <p:sp>
        <p:nvSpPr>
          <p:cNvPr id="114" name="LiveKit voice">
            <a:extLst xmlns:a="http://schemas.openxmlformats.org/drawingml/2006/main">
              <a:ext uri="{FF2B5EF4-FFF2-40B4-BE49-F238E27FC236}">
                <a16:creationId xmlns:a16="http://schemas.microsoft.com/office/drawing/2014/main" id="{7815AE36-083A-48D7-9557-C321C0F7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781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C"/>
          </a:solidFill>
          <a:ln xmlns:a="http://schemas.openxmlformats.org/drawingml/2006/main" w="9525">
            <a:solidFill>
              <a:srgbClr val="CFC0E6"/>
            </a:solidFill>
          </a:ln>
        </p:spPr>
      </p:sp>
      <p:sp>
        <p:nvSpPr>
          <p:cNvPr id="115" name="LiveKit voice-title">
            <a:extLst xmlns:a="http://schemas.openxmlformats.org/drawingml/2006/main">
              <a:ext uri="{FF2B5EF4-FFF2-40B4-BE49-F238E27FC236}">
                <a16:creationId xmlns:a16="http://schemas.microsoft.com/office/drawing/2014/main" id="{B7B542A6-F433-42E0-BAFB-6CC76EB0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7172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LiveKit voice</a:t>
            </a:r>
          </a:p>
        </p:txBody>
      </p:sp>
      <p:sp>
        <p:nvSpPr>
          <p:cNvPr id="116" name="LiveKit voice-body">
            <a:extLst xmlns:a="http://schemas.openxmlformats.org/drawingml/2006/main">
              <a:ext uri="{FF2B5EF4-FFF2-40B4-BE49-F238E27FC236}">
                <a16:creationId xmlns:a16="http://schemas.microsoft.com/office/drawing/2014/main" id="{2EDA4B07-9F6B-4C4D-AC20-62EE140F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0350"/>
            <a:ext cx="245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Speech activity</a:t>
            </a:r>
          </a:p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and final transcripts</a:t>
            </a:r>
          </a:p>
        </p:txBody>
      </p:sp>
      <p:sp>
        <p:nvSpPr>
          <p:cNvPr id="117" name="Session controller">
            <a:extLst xmlns:a="http://schemas.openxmlformats.org/drawingml/2006/main">
              <a:ext uri="{FF2B5EF4-FFF2-40B4-BE49-F238E27FC236}">
                <a16:creationId xmlns:a16="http://schemas.microsoft.com/office/drawing/2014/main" id="{BA090785-D9AE-47EC-8987-669AE15F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2781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C"/>
          </a:solidFill>
          <a:ln xmlns:a="http://schemas.openxmlformats.org/drawingml/2006/main" w="9525">
            <a:solidFill>
              <a:srgbClr val="CFC0E6"/>
            </a:solidFill>
          </a:ln>
        </p:spPr>
      </p:sp>
      <p:sp>
        <p:nvSpPr>
          <p:cNvPr id="118" name="Session controller-title">
            <a:extLst xmlns:a="http://schemas.openxmlformats.org/drawingml/2006/main">
              <a:ext uri="{FF2B5EF4-FFF2-40B4-BE49-F238E27FC236}">
                <a16:creationId xmlns:a16="http://schemas.microsoft.com/office/drawing/2014/main" id="{0A6F192D-1E8F-477B-861F-8598463B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7172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Session controller</a:t>
            </a:r>
          </a:p>
        </p:txBody>
      </p:sp>
      <p:sp>
        <p:nvSpPr>
          <p:cNvPr id="119" name="Session controller-body">
            <a:extLst xmlns:a="http://schemas.openxmlformats.org/drawingml/2006/main">
              <a:ext uri="{FF2B5EF4-FFF2-40B4-BE49-F238E27FC236}">
                <a16:creationId xmlns:a16="http://schemas.microsoft.com/office/drawing/2014/main" id="{5355AC2A-B205-48D1-BAF0-DA2AB59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800350"/>
            <a:ext cx="245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Slot revisions, holds</a:t>
            </a:r>
          </a:p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and source provenance</a:t>
            </a:r>
          </a:p>
        </p:txBody>
      </p:sp>
      <p:sp>
        <p:nvSpPr>
          <p:cNvPr id="120" name="Reasoning adapter">
            <a:extLst xmlns:a="http://schemas.openxmlformats.org/drawingml/2006/main">
              <a:ext uri="{FF2B5EF4-FFF2-40B4-BE49-F238E27FC236}">
                <a16:creationId xmlns:a16="http://schemas.microsoft.com/office/drawing/2014/main" id="{E65F6473-B419-40B7-A86F-A7D9EAC8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781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C"/>
          </a:solidFill>
          <a:ln xmlns:a="http://schemas.openxmlformats.org/drawingml/2006/main" w="9525">
            <a:solidFill>
              <a:srgbClr val="CFC0E6"/>
            </a:solidFill>
          </a:ln>
        </p:spPr>
      </p:sp>
      <p:sp>
        <p:nvSpPr>
          <p:cNvPr id="121" name="Reasoning adapter-title">
            <a:extLst xmlns:a="http://schemas.openxmlformats.org/drawingml/2006/main">
              <a:ext uri="{FF2B5EF4-FFF2-40B4-BE49-F238E27FC236}">
                <a16:creationId xmlns:a16="http://schemas.microsoft.com/office/drawing/2014/main" id="{156D0A4A-6952-4831-89C4-B8DB414A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71725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Reasoning adapter</a:t>
            </a:r>
          </a:p>
        </p:txBody>
      </p:sp>
      <p:sp>
        <p:nvSpPr>
          <p:cNvPr id="122" name="Reasoning adapter-body">
            <a:extLst xmlns:a="http://schemas.openxmlformats.org/drawingml/2006/main">
              <a:ext uri="{FF2B5EF4-FFF2-40B4-BE49-F238E27FC236}">
                <a16:creationId xmlns:a16="http://schemas.microsoft.com/office/drawing/2014/main" id="{C8E9BEA9-43B7-4C0A-AFB9-01135116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00350"/>
            <a:ext cx="245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Structured proposals</a:t>
            </a:r>
          </a:p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from a hosted model</a:t>
            </a:r>
          </a:p>
        </p:txBody>
      </p:sp>
      <p:sp>
        <p:nvSpPr>
          <p:cNvPr id="123" name="Tool executor">
            <a:extLst xmlns:a="http://schemas.openxmlformats.org/drawingml/2006/main">
              <a:ext uri="{FF2B5EF4-FFF2-40B4-BE49-F238E27FC236}">
                <a16:creationId xmlns:a16="http://schemas.microsoft.com/office/drawing/2014/main" id="{7F358914-260E-4A4B-8C3C-10169EEB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57675"/>
            <a:ext cx="2781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C"/>
          </a:solidFill>
          <a:ln xmlns:a="http://schemas.openxmlformats.org/drawingml/2006/main" w="9525">
            <a:solidFill>
              <a:srgbClr val="CFC0E6"/>
            </a:solidFill>
          </a:ln>
        </p:spPr>
      </p:sp>
      <p:sp>
        <p:nvSpPr>
          <p:cNvPr id="124" name="Tool executor-title">
            <a:extLst xmlns:a="http://schemas.openxmlformats.org/drawingml/2006/main">
              <a:ext uri="{FF2B5EF4-FFF2-40B4-BE49-F238E27FC236}">
                <a16:creationId xmlns:a16="http://schemas.microsoft.com/office/drawing/2014/main" id="{311B7E7A-E7BF-4980-86EC-6C9DC402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8150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Tool executor</a:t>
            </a:r>
          </a:p>
        </p:txBody>
      </p:sp>
      <p:sp>
        <p:nvSpPr>
          <p:cNvPr id="125" name="Tool executor-body">
            <a:extLst xmlns:a="http://schemas.openxmlformats.org/drawingml/2006/main">
              <a:ext uri="{FF2B5EF4-FFF2-40B4-BE49-F238E27FC236}">
                <a16:creationId xmlns:a16="http://schemas.microsoft.com/office/drawing/2014/main" id="{4A64E95D-7F31-492E-B54E-40A125B4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810125"/>
            <a:ext cx="245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Cancel outdated work,</a:t>
            </a:r>
          </a:p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validate tool results</a:t>
            </a:r>
          </a:p>
        </p:txBody>
      </p:sp>
      <p:sp>
        <p:nvSpPr>
          <p:cNvPr id="126" name="Mock tool registry">
            <a:extLst xmlns:a="http://schemas.openxmlformats.org/drawingml/2006/main">
              <a:ext uri="{FF2B5EF4-FFF2-40B4-BE49-F238E27FC236}">
                <a16:creationId xmlns:a16="http://schemas.microsoft.com/office/drawing/2014/main" id="{0EF0AFCA-D0E6-4F78-A761-26040BF7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57675"/>
            <a:ext cx="2781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C"/>
          </a:solidFill>
          <a:ln xmlns:a="http://schemas.openxmlformats.org/drawingml/2006/main" w="9525">
            <a:solidFill>
              <a:srgbClr val="CFC0E6"/>
            </a:solidFill>
          </a:ln>
        </p:spPr>
      </p:sp>
      <p:sp>
        <p:nvSpPr>
          <p:cNvPr id="127" name="Mock tool registry-title">
            <a:extLst xmlns:a="http://schemas.openxmlformats.org/drawingml/2006/main">
              <a:ext uri="{FF2B5EF4-FFF2-40B4-BE49-F238E27FC236}">
                <a16:creationId xmlns:a16="http://schemas.microsoft.com/office/drawing/2014/main" id="{3072874E-3D09-4A5E-8DBA-1E8BADD4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8150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Mock tool registry</a:t>
            </a:r>
          </a:p>
        </p:txBody>
      </p:sp>
      <p:sp>
        <p:nvSpPr>
          <p:cNvPr id="128" name="Mock tool registry-body">
            <a:extLst xmlns:a="http://schemas.openxmlformats.org/drawingml/2006/main">
              <a:ext uri="{FF2B5EF4-FFF2-40B4-BE49-F238E27FC236}">
                <a16:creationId xmlns:a16="http://schemas.microsoft.com/office/drawing/2014/main" id="{7BB37371-1DC7-4258-A7ED-5AD9FE53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10125"/>
            <a:ext cx="2457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FDB tool catalog or</a:t>
            </a:r>
          </a:p>
          <a:p xmlns:a="http://schemas.openxmlformats.org/drawingml/2006/main">
            <a:pPr>
              <a:defRPr sz="1650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simulated navigation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E3A4F2E-77F8-444E-95F5-638C052B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647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DAB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DAD5DFC-A819-4276-9A5C-AEF85638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647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DAB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B1FDCB7-6085-40B7-B6F9-BB1C87C1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00600"/>
            <a:ext cx="647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4DAB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8D24794-68F6-44CC-8A3D-AD39ADE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05225"/>
            <a:ext cx="1905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04DAB"/>
          </a:solidFill>
          <a:ln xmlns:a="http://schemas.openxmlformats.org/drawingml/2006/main" w="0">
            <a:noFill/>
          </a:ln>
        </p:spPr>
      </p:sp>
      <p:sp>
        <p:nvSpPr>
          <p:cNvPr id="133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129DC75A-D39D-43DF-80B4-1C4185B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282"/>
                </a:solidFill>
                <a:latin typeface="Arial"/>
                <a:ea typeface="Arial"/>
                <a:cs typeface="Arial"/>
              </a:rPr>
              <a:t>Only the controller mutates authoritative conversational state.</a:t>
            </a:r>
          </a:p>
        </p:txBody>
      </p:sp>
    </p:spTree>
    <p:extLst>
      <p:ext uri="{BB962C8B-B14F-4D97-AF65-F5344CB8AC3E}">
        <p14:creationId xmlns:p14="http://schemas.microsoft.com/office/powerpoint/2010/main" val="19957684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F3E9D9C2-C122-4787-8DD7-6BD5044F3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Demo and product walkthrough</a:t>
            </a:r>
            <a:endParaRPr/>
          </a:p>
        </p:txBody>
      </p:sp>
      <p:sp>
        <p:nvSpPr>
          <p:cNvPr id="120" name="demo-a-title">
            <a:extLst xmlns:a="http://schemas.openxmlformats.org/drawingml/2006/main">
              <a:ext uri="{FF2B5EF4-FFF2-40B4-BE49-F238E27FC236}">
                <a16:creationId xmlns:a16="http://schemas.microsoft.com/office/drawing/2014/main" id="{84D1871E-15FD-4A9D-9F6F-DCEA1262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8825"/>
            <a:ext cx="10363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Voice correction and chained tools</a:t>
            </a:r>
          </a:p>
        </p:txBody>
      </p:sp>
      <p:sp>
        <p:nvSpPr>
          <p:cNvPr id="121" name="demo-a-body">
            <a:extLst xmlns:a="http://schemas.openxmlformats.org/drawingml/2006/main">
              <a:ext uri="{FF2B5EF4-FFF2-40B4-BE49-F238E27FC236}">
                <a16:creationId xmlns:a16="http://schemas.microsoft.com/office/drawing/2014/main" id="{1AC9892E-AFB7-41C1-BDE4-D641F6D1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363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Speak a request, revise one detail, and inspect the confirmed mock calls.</a:t>
            </a:r>
          </a:p>
          <a:p xmlns:a="http://schemas.openxmlformats.org/drawingml/2006/main">
            <a:pPr>
              <a:defRPr sz="2025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Interrupt the reply and verify that stale work cannot become a new action.</a:t>
            </a:r>
          </a:p>
        </p:txBody>
      </p:sp>
      <p:sp>
        <p:nvSpPr>
          <p:cNvPr id="122" name="demo-b-title">
            <a:extLst xmlns:a="http://schemas.openxmlformats.org/drawingml/2006/main">
              <a:ext uri="{FF2B5EF4-FFF2-40B4-BE49-F238E27FC236}">
                <a16:creationId xmlns:a16="http://schemas.microsoft.com/office/drawing/2014/main" id="{63A916E1-19DF-4704-AD02-26CFCC7A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Extension: change a simulated destination</a:t>
            </a:r>
          </a:p>
        </p:txBody>
      </p:sp>
      <p:sp>
        <p:nvSpPr>
          <p:cNvPr id="123" name="demo-b-body">
            <a:extLst xmlns:a="http://schemas.openxmlformats.org/drawingml/2006/main">
              <a:ext uri="{FF2B5EF4-FFF2-40B4-BE49-F238E27FC236}">
                <a16:creationId xmlns:a16="http://schemas.microsoft.com/office/drawing/2014/main" id="{0A4E678D-5C4C-4E8A-B77E-818F7648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3632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“Go to Central Station… actually City Hospital.”</a:t>
            </a:r>
          </a:p>
          <a:p xmlns:a="http://schemas.openxmlformats.org/drawingml/2006/main">
            <a:pPr>
              <a:defRPr sz="2025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The room’s local display shows the final destination and revision.</a:t>
            </a:r>
          </a:p>
        </p:txBody>
      </p:sp>
      <p:sp>
        <p:nvSpPr>
          <p:cNvPr id="124" name="demo-caveat">
            <a:extLst xmlns:a="http://schemas.openxmlformats.org/drawingml/2006/main">
              <a:ext uri="{FF2B5EF4-FFF2-40B4-BE49-F238E27FC236}">
                <a16:creationId xmlns:a16="http://schemas.microsoft.com/office/drawing/2014/main" id="{142493B1-5140-4467-9BFA-3D58897A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282"/>
                </a:solidFill>
                <a:latin typeface="Arial"/>
                <a:ea typeface="Arial"/>
                <a:cs typeface="Arial"/>
              </a:rPr>
              <a:t>Live microphone checks cover corrections, interruptions and session closure.</a:t>
            </a:r>
          </a:p>
        </p:txBody>
      </p:sp>
    </p:spTree>
    <p:extLst>
      <p:ext uri="{BB962C8B-B14F-4D97-AF65-F5344CB8AC3E}">
        <p14:creationId xmlns:p14="http://schemas.microsoft.com/office/powerpoint/2010/main" val="1542477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6">
            <a:extLst xmlns:a="http://schemas.openxmlformats.org/drawingml/2006/main">
              <a:ext uri="{FF2B5EF4-FFF2-40B4-BE49-F238E27FC236}">
                <a16:creationId xmlns:a16="http://schemas.microsoft.com/office/drawing/2014/main" id="{B38968C7-8033-4A0E-A45B-D603B86DEB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Tools and technology stack</a:t>
            </a:r>
            <a:endParaRPr b="1">
              <a:solidFill>
                <a:srgbClr val="704EA6"/>
              </a:solidFill>
            </a:endParaRPr>
          </a:p>
        </p:txBody>
      </p:sp>
      <p:graphicFrame>
        <p:nvGraphicFramePr>
          <p:cNvPr id="129" name=""/>
          <p:cNvGraphicFramePr/>
          <p:nvPr/>
        </p:nvGraphicFramePr>
        <p:xfrm>
          <a:off xmlns:a="http://schemas.openxmlformats.org/drawingml/2006/main" x="914400" y="2000250"/>
          <a:ext xmlns:a="http://schemas.openxmlformats.org/drawingml/2006/main" cx="103632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048250"/>
                <a:gridCol w="3028950"/>
              </a:tblGrid>
              <a:tr h="596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</a:tr>
              <a:tr h="596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Agent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Python 3.11, asyncio, Pydantic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State and execution guards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Speech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LiveKit + Groq Whisper Large v3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Microphone transcription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Planning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LiveKit Inference: 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Structured tool proposals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Speech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LiveKit Deepgram Aura-2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Interruptible spoken replies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Official FDB-v3 runner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Released voice scenarios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7" name="runtime-note">
            <a:extLst xmlns:a="http://schemas.openxmlformats.org/drawingml/2006/main">
              <a:ext uri="{FF2B5EF4-FFF2-40B4-BE49-F238E27FC236}">
                <a16:creationId xmlns:a16="http://schemas.microsoft.com/office/drawing/2014/main" id="{1A1EE292-5198-4A5D-A8E9-716DB7E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282"/>
                </a:solidFill>
                <a:latin typeface="Arial"/>
                <a:ea typeface="Arial"/>
                <a:cs typeface="Arial"/>
              </a:rPr>
              <a:t>Providers stay configurable. Credentials stay outside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20795740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D98AC43A-9BF2-47D4-A24D-A6E9310A7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Impact and use cases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impact-main">
            <a:extLst xmlns:a="http://schemas.openxmlformats.org/drawingml/2006/main">
              <a:ext uri="{FF2B5EF4-FFF2-40B4-BE49-F238E27FC236}">
                <a16:creationId xmlns:a16="http://schemas.microsoft.com/office/drawing/2014/main" id="{87C75AD7-2B14-4F0B-B980-EC835E97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10363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192F"/>
                </a:solidFill>
                <a:latin typeface="Arial"/>
                <a:ea typeface="Arial"/>
                <a:cs typeface="Arial"/>
              </a:rPr>
              <a:t>A voice interface that accommodates corrections</a:t>
            </a:r>
          </a:p>
          <a:p xmlns:a="http://schemas.openxmlformats.org/drawingml/2006/main">
            <a:pPr>
              <a:defRPr sz="2625" b="1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192F"/>
                </a:solidFill>
                <a:latin typeface="Arial"/>
                <a:ea typeface="Arial"/>
                <a:cs typeface="Arial"/>
              </a:rPr>
              <a:t>can make routine tasks easier to complete.</a:t>
            </a:r>
          </a:p>
        </p:txBody>
      </p:sp>
      <p:sp>
        <p:nvSpPr>
          <p:cNvPr id="133" name="impact-case1">
            <a:extLst xmlns:a="http://schemas.openxmlformats.org/drawingml/2006/main">
              <a:ext uri="{FF2B5EF4-FFF2-40B4-BE49-F238E27FC236}">
                <a16:creationId xmlns:a16="http://schemas.microsoft.com/office/drawing/2014/main" id="{7F8581FB-CA75-4678-9C3F-4474E9F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Service requests and bookings</a:t>
            </a:r>
          </a:p>
        </p:txBody>
      </p:sp>
      <p:sp>
        <p:nvSpPr>
          <p:cNvPr id="134" name="impact-body1">
            <a:extLst xmlns:a="http://schemas.openxmlformats.org/drawingml/2006/main">
              <a:ext uri="{FF2B5EF4-FFF2-40B4-BE49-F238E27FC236}">
                <a16:creationId xmlns:a16="http://schemas.microsoft.com/office/drawing/2014/main" id="{D4721544-99FC-4596-9C3A-B6FDBADB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Retain earlier details while the user</a:t>
            </a:r>
          </a:p>
          <a:p xmlns:a="http://schemas.openxmlformats.org/drawingml/2006/main">
            <a:pPr>
              <a:defRPr sz="2025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changes a time, quantity or device.</a:t>
            </a:r>
          </a:p>
        </p:txBody>
      </p:sp>
      <p:sp>
        <p:nvSpPr>
          <p:cNvPr id="135" name="impact-case2">
            <a:extLst xmlns:a="http://schemas.openxmlformats.org/drawingml/2006/main">
              <a:ext uri="{FF2B5EF4-FFF2-40B4-BE49-F238E27FC236}">
                <a16:creationId xmlns:a16="http://schemas.microsoft.com/office/drawing/2014/main" id="{F12B1778-584C-4659-85AF-C1F0847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147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Hands-free destination changes</a:t>
            </a:r>
          </a:p>
        </p:txBody>
      </p:sp>
      <p:sp>
        <p:nvSpPr>
          <p:cNvPr id="136" name="impact-body2">
            <a:extLst xmlns:a="http://schemas.openxmlformats.org/drawingml/2006/main">
              <a:ext uri="{FF2B5EF4-FFF2-40B4-BE49-F238E27FC236}">
                <a16:creationId xmlns:a16="http://schemas.microsoft.com/office/drawing/2014/main" id="{28C39434-0EEE-4884-B872-B7CF9CA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Update a simulated route without</a:t>
            </a:r>
          </a:p>
          <a:p xmlns:a="http://schemas.openxmlformats.org/drawingml/2006/main">
            <a:pPr>
              <a:defRPr sz="2025" b="0">
                <a:solidFill>
                  <a:srgbClr val="1919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92F"/>
                </a:solidFill>
                <a:latin typeface="Arial"/>
                <a:ea typeface="Arial"/>
                <a:cs typeface="Arial"/>
              </a:rPr>
              <a:t>requiring a separate text form.</a:t>
            </a:r>
          </a:p>
        </p:txBody>
      </p:sp>
      <p:sp>
        <p:nvSpPr>
          <p:cNvPr id="137" name="impact-limit">
            <a:extLst xmlns:a="http://schemas.openxmlformats.org/drawingml/2006/main">
              <a:ext uri="{FF2B5EF4-FFF2-40B4-BE49-F238E27FC236}">
                <a16:creationId xmlns:a16="http://schemas.microsoft.com/office/drawing/2014/main" id="{A0329878-7352-4A9C-BB52-B986176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036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2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282"/>
                </a:solidFill>
                <a:latin typeface="Arial"/>
                <a:ea typeface="Arial"/>
                <a:cs typeface="Arial"/>
              </a:rPr>
              <a:t>Intended benefits need user validation. No diagnosis or treatment claim.</a:t>
            </a:r>
          </a:p>
        </p:txBody>
      </p:sp>
    </p:spTree>
    <p:extLst>
      <p:ext uri="{BB962C8B-B14F-4D97-AF65-F5344CB8AC3E}">
        <p14:creationId xmlns:p14="http://schemas.microsoft.com/office/powerpoint/2010/main" val="10054378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8FE83939-0652-46B0-8D82-3E187C71E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Validation and evaluation</a:t>
            </a:r>
            <a:endParaRPr sz="4400" b="1">
              <a:solidFill>
                <a:srgbClr val="704EA6"/>
              </a:solidFill>
            </a:endParaRPr>
          </a:p>
        </p:txBody>
      </p:sp>
      <p:graphicFrame>
        <p:nvGraphicFramePr>
          <p:cNvPr id="141" name=""/>
          <p:cNvGraphicFramePr/>
          <p:nvPr/>
        </p:nvGraphicFramePr>
        <p:xfrm>
          <a:off xmlns:a="http://schemas.openxmlformats.org/drawingml/2006/main" x="914400" y="2000250"/>
          <a:ext xmlns:a="http://schemas.openxmlformats.org/drawingml/2006/main" cx="10363200" cy="3038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3143250"/>
                <a:gridCol w="4419600"/>
              </a:tblGrid>
              <a:tr h="6076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Observed result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04DAB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F1EAF9"/>
                    </a:solidFill>
                  </a:tcPr>
                </a:tc>
              </a:tr>
              <a:tr h="6076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Full Python suite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1,614 passed, 8 skipped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Software regression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Unique-result binding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112 focused tests 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Schema, provenance and action guards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Live microphone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4 manual checks 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Human observations, no timing 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Benchmark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100 released audio inputs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9192F"/>
                          </a:solidFill>
                          <a:latin typeface="Arial"/>
                          <a:ea typeface="Arial"/>
                          <a:cs typeface="Arial"/>
                        </a:rPr>
                        <a:t>Organizer re-runs the pinned judge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next-step">
            <a:extLst xmlns:a="http://schemas.openxmlformats.org/drawingml/2006/main">
              <a:ext uri="{FF2B5EF4-FFF2-40B4-BE49-F238E27FC236}">
                <a16:creationId xmlns:a16="http://schemas.microsoft.com/office/drawing/2014/main" id="{AD6379C1-4173-4337-A898-B98DF850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363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Software checks and manual demonstrations validate different layers.</a:t>
            </a:r>
          </a:p>
          <a:p xmlns:a="http://schemas.openxmlformats.org/drawingml/2006/main">
            <a:pPr>
              <a:defRPr sz="1950" b="1">
                <a:solidFill>
                  <a:srgbClr val="704DA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4DAB"/>
                </a:solidFill>
                <a:latin typeface="Arial"/>
                <a:ea typeface="Arial"/>
                <a:cs typeface="Arial"/>
              </a:rPr>
              <a:t>No official aggregate benchmark score is claimed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7014994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2026-09-30T18:33:21.1840000Z</dcterms:created>
  <dcterms:modified xsi:type="dcterms:W3CDTF">2026-09-30T18:33:21.1850000Z</dcterms:modified>
</coreProperties>
</file>